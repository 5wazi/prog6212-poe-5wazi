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5" r:id="rId3"/>
    <p:sldId id="258" r:id="rId4"/>
    <p:sldId id="266" r:id="rId5"/>
    <p:sldId id="259" r:id="rId6"/>
    <p:sldId id="267" r:id="rId7"/>
    <p:sldId id="260" r:id="rId8"/>
    <p:sldId id="268" r:id="rId9"/>
    <p:sldId id="261" r:id="rId10"/>
    <p:sldId id="262" r:id="rId11"/>
    <p:sldId id="269" r:id="rId12"/>
    <p:sldId id="263" r:id="rId13"/>
    <p:sldId id="270" r:id="rId14"/>
    <p:sldId id="264" r:id="rId15"/>
    <p:sldId id="271" r:id="rId16"/>
    <p:sldId id="273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94660"/>
  </p:normalViewPr>
  <p:slideViewPr>
    <p:cSldViewPr snapToGrid="0">
      <p:cViewPr>
        <p:scale>
          <a:sx n="80" d="100"/>
          <a:sy n="80" d="100"/>
        </p:scale>
        <p:origin x="80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AB6B-B40B-2C52-C5D9-9CAFA0C55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DEB21B-44D7-9AA8-0A2D-D7A09AFDD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A734D-A25E-4BAC-253C-8A226D4C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7924-C0E4-4D24-98E8-8CDC152AA19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944F2-44A4-9875-CEF1-C3C52997D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4473F-BDB5-0AF9-F067-27EE101AD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2DC4-205B-4987-80BE-9BFC73698A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596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7BD9-E5FE-39A8-D385-BE34CC60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9C3CA-20D3-1813-62E8-62C1B2DC4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44137-849C-ADF8-B06A-9C26EBFC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7924-C0E4-4D24-98E8-8CDC152AA19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CEC90-3575-DB31-AC2E-1AA8DB695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4C550-0BAD-52D8-BBFB-E9899F4A1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2DC4-205B-4987-80BE-9BFC73698A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9183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2A6E-CF39-ABAC-FCD5-EFEB12300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1E397-027F-6DB2-1C37-CBD46FA5B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20E6B-95AC-004A-5D0C-EC23440DB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7924-C0E4-4D24-98E8-8CDC152AA19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C1298-AE75-4B76-51BD-B96A4BF3B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A91A8-B16E-2D55-B06E-2BE1A3FCB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2DC4-205B-4987-80BE-9BFC73698A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73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B437A-8926-1F46-E1A2-1143B910B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AF376-8149-F0DD-E7C7-0886BFC4B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9B1B4-4203-8FBE-009E-CE6047F49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186C9-AA15-7B7E-FFDC-D6326D2F3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7924-C0E4-4D24-98E8-8CDC152AA19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0A2CF-566F-F98F-236C-F6FB9851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94D9C-8158-5CDF-9BE5-78A397992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2DC4-205B-4987-80BE-9BFC73698A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55108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25EA-F370-EFC4-D4AE-1ED94F655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6F669-9387-978D-E320-CD3AA18AF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4F44D-7BC5-59F4-3A6E-858DFC4D4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9ECCD-DB7B-D25F-4C85-2670E6D1B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860DC-A13A-51B0-3443-0B9E92852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0CCF8D-9B7B-9BAB-8E00-C3BC30C0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7924-C0E4-4D24-98E8-8CDC152AA19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DAA43A-DC86-23D0-CE39-86699A55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24BA4-2866-02FB-2037-151E5DF2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2DC4-205B-4987-80BE-9BFC73698A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9423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F3D0-BAAA-A7CC-7D0C-58CD0882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81163-D01F-33DD-F4E4-AAC7CBE9E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7924-C0E4-4D24-98E8-8CDC152AA19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CA14A-5735-2A46-600C-E67B5A545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C1F7A-BA2D-DA56-DF52-9B64349B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2DC4-205B-4987-80BE-9BFC73698A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5153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DAAB2-C668-759F-D754-DB4D975C7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7924-C0E4-4D24-98E8-8CDC152AA19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DA4C0D-832E-05E8-22E8-4EC16F886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9466D-5ACC-A5A2-99A1-F3B02A1AF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2DC4-205B-4987-80BE-9BFC73698A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7501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16D8A-9EC4-021E-4D23-41637945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8DBF-91C8-D874-F8D7-7373F5430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941E7-DFDE-D3FA-04D7-288E3E340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BBCD2-546E-A038-542D-5920F42E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7924-C0E4-4D24-98E8-8CDC152AA19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E9861-274D-E190-8327-A85E180C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9DC73-44B4-A25A-B029-78733256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2DC4-205B-4987-80BE-9BFC73698A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560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801C-F6CC-DE7F-3BD0-142939B7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695840-EA77-6A45-280B-E0516AD02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908D9-ECF5-783A-BCDE-6C028FA3D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A17BD-745E-BA93-F1A9-76A737DED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7924-C0E4-4D24-98E8-8CDC152AA19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FA253-DBC6-0C66-4D01-569A870B3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D1BA7-36FC-B431-52BF-F10B28BE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2DC4-205B-4987-80BE-9BFC73698A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533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DABB-0C2E-1367-80F0-441D7FC2F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A5A92-4E71-ACA2-77A8-1F90F6B59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95894-6C65-79C5-5A81-E0D8800B9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7924-C0E4-4D24-98E8-8CDC152AA19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3E5E6-9956-B8AA-4A94-4612EF27B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3EC73-7291-2180-D8FF-112EF9B70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2DC4-205B-4987-80BE-9BFC73698A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39344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1E7E73-17A0-3082-73AC-6D39A4BA8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1601B-ECB5-2D5C-828B-EC7D64F57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6C7B4-0AD8-7B77-78E7-14DB62001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7924-C0E4-4D24-98E8-8CDC152AA19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A336B-A459-0031-D78A-AB11B354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A8B5-B809-F899-2FD6-F4DD19DBD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2DC4-205B-4987-80BE-9BFC73698A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13181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3918D4-E5AA-F086-76FB-872614BBF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B5050-3A7B-D90C-DC58-13745A929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74AF7-1EEC-89DA-BFD1-1F9D6F8C7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C7924-C0E4-4D24-98E8-8CDC152AA193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CC54B-F55E-B3C3-7848-CE0752139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B667F-0CED-3A53-A3E8-49F6F9545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A2DC4-205B-4987-80BE-9BFC73698A8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816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D85F1-1897-F722-0E99-432F6E175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ZA" sz="4800" dirty="0"/>
              <a:t>Contract Monthly Claim System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D75C5-565C-59D3-F266-2B0FDD552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en-ZA" dirty="0">
                <a:solidFill>
                  <a:srgbClr val="FFFFFF"/>
                </a:solidFill>
              </a:rPr>
              <a:t>ST10442364 Samkelisiwe Hlatshwayo</a:t>
            </a:r>
          </a:p>
        </p:txBody>
      </p:sp>
    </p:spTree>
    <p:extLst>
      <p:ext uri="{BB962C8B-B14F-4D97-AF65-F5344CB8AC3E}">
        <p14:creationId xmlns:p14="http://schemas.microsoft.com/office/powerpoint/2010/main" val="1145825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2ED0E-B334-F2AB-E32B-04EE54A2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747B53-02FE-6039-61CB-6265C58B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5F2D13-D79E-1301-4BE7-B917D617D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1A9BB6-E182-EA24-0696-ED6809178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F921E8-37E3-378D-00C6-39C82DF0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A8E4D-0F9A-9C2A-6385-A94D88406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AA783-FF0B-4D7F-57FE-80AA76B4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ZA" sz="4000" dirty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CC76B-29F7-2A42-2363-5194342C8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The Contract Monthly Claim System (CMCS) is a .NET MVC web-based application designed to streamline the submission, review, and approval of monthly claims for independent contractor lecturers. The system provides role-based dashboards for Lecturers, Program Coordinators, and Academic Managers, ensuring efficiency, accountability, and transparency.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45620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2ED63-771B-70E1-C787-8BE3F1A1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Lecturer Features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39E1F-47A1-CB49-46F7-B43417B4C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ZA" sz="1400" b="1"/>
              <a:t>Lecturer Dashboard </a:t>
            </a:r>
            <a:endParaRPr lang="en-ZA" sz="1400"/>
          </a:p>
          <a:p>
            <a:pPr lvl="0"/>
            <a:r>
              <a:rPr lang="en-ZA" sz="1400"/>
              <a:t>Quick access</a:t>
            </a:r>
          </a:p>
          <a:p>
            <a:pPr lvl="0"/>
            <a:r>
              <a:rPr lang="en-ZA" sz="1400"/>
              <a:t>Claim Summary (Total, Pending, Approved, Rejected)</a:t>
            </a:r>
          </a:p>
          <a:p>
            <a:pPr lvl="0"/>
            <a:r>
              <a:rPr lang="en-ZA" sz="1400"/>
              <a:t>Recent Activity (latest claims with status badges)</a:t>
            </a:r>
          </a:p>
          <a:p>
            <a:pPr marL="0" indent="0">
              <a:buNone/>
            </a:pPr>
            <a:endParaRPr lang="en-ZA" sz="1400"/>
          </a:p>
          <a:p>
            <a:pPr marL="0" indent="0">
              <a:buNone/>
            </a:pPr>
            <a:r>
              <a:rPr lang="en-ZA" sz="1400" b="1"/>
              <a:t>Lecturer Claim Page</a:t>
            </a:r>
            <a:r>
              <a:rPr lang="en-ZA" sz="1400"/>
              <a:t> </a:t>
            </a:r>
          </a:p>
          <a:p>
            <a:pPr lvl="0"/>
            <a:r>
              <a:rPr lang="en-ZA" sz="1400"/>
              <a:t>Filters section (Month selector, Status dropdown, Apply/Reset buttons)</a:t>
            </a:r>
          </a:p>
          <a:p>
            <a:pPr lvl="0"/>
            <a:r>
              <a:rPr lang="en-ZA" sz="1400"/>
              <a:t>Claims Table (Claim ID, Date, Hours Worked, Hourly Rate, Total, Status)</a:t>
            </a:r>
          </a:p>
          <a:p>
            <a:pPr marL="0" indent="0">
              <a:buNone/>
            </a:pPr>
            <a:endParaRPr lang="en-ZA" sz="1400"/>
          </a:p>
          <a:p>
            <a:pPr marL="0" indent="0">
              <a:buNone/>
            </a:pPr>
            <a:r>
              <a:rPr lang="en-ZA" sz="1400" b="1"/>
              <a:t>Lecturer Claim Submission Form Page</a:t>
            </a:r>
          </a:p>
          <a:p>
            <a:pPr lvl="0"/>
            <a:r>
              <a:rPr lang="en-ZA" sz="1400"/>
              <a:t>Claim Submission Form</a:t>
            </a:r>
          </a:p>
          <a:p>
            <a:pPr lvl="0"/>
            <a:r>
              <a:rPr lang="en-ZA" sz="1400"/>
              <a:t>Full Name (auto-filled), Module/Claim Title, Hours Worked, Hourly Rate, Total (auto-calculated)</a:t>
            </a:r>
          </a:p>
          <a:p>
            <a:pPr lvl="0"/>
            <a:r>
              <a:rPr lang="en-ZA" sz="1400"/>
              <a:t>Description / Notes</a:t>
            </a:r>
          </a:p>
          <a:p>
            <a:pPr lvl="0"/>
            <a:r>
              <a:rPr lang="en-ZA" sz="1400"/>
              <a:t>Submission Date (auto-filled)</a:t>
            </a:r>
          </a:p>
          <a:p>
            <a:pPr lvl="0"/>
            <a:r>
              <a:rPr lang="en-ZA" sz="1400"/>
              <a:t>File Upload Component (Max file size: 20MB / File Types: .pdf, .docx, .xlsx)</a:t>
            </a:r>
          </a:p>
          <a:p>
            <a:pPr lvl="0"/>
            <a:r>
              <a:rPr lang="en-ZA" sz="1400"/>
              <a:t>Displays errors if files exceed size or unsupported type</a:t>
            </a:r>
          </a:p>
          <a:p>
            <a:endParaRPr lang="en-ZA" sz="1400"/>
          </a:p>
        </p:txBody>
      </p:sp>
    </p:spTree>
    <p:extLst>
      <p:ext uri="{BB962C8B-B14F-4D97-AF65-F5344CB8AC3E}">
        <p14:creationId xmlns:p14="http://schemas.microsoft.com/office/powerpoint/2010/main" val="3489864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37DABC-27CC-E48A-A43E-F8EC1DB6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Lecturer Key Feature – Claim Submission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C29ABA-88B0-2658-9103-D9D925056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1430" y="1799132"/>
            <a:ext cx="4505715" cy="47057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3D7BBF-66E9-43F1-3519-E01DA8333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924" y="1799132"/>
            <a:ext cx="3896115" cy="468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5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AC392-AA5E-B400-9A48-9FD84D449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Program Coordinator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C03E9-2FCA-DB06-ADB2-BF82F226F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ZA" sz="2000" b="1"/>
              <a:t>Program Coordinator Dashboard</a:t>
            </a:r>
          </a:p>
          <a:p>
            <a:pPr lvl="0"/>
            <a:r>
              <a:rPr lang="en-ZA" sz="2000"/>
              <a:t>Quick access </a:t>
            </a:r>
          </a:p>
          <a:p>
            <a:pPr lvl="0"/>
            <a:r>
              <a:rPr lang="en-ZA" sz="2000"/>
              <a:t>Claim Summary (Total, Pending, Approved, Rejected)</a:t>
            </a:r>
          </a:p>
          <a:p>
            <a:pPr marL="0" indent="0">
              <a:buNone/>
            </a:pPr>
            <a:endParaRPr lang="en-ZA" sz="2000"/>
          </a:p>
          <a:p>
            <a:pPr marL="0" indent="0">
              <a:buNone/>
            </a:pPr>
            <a:r>
              <a:rPr lang="en-ZA" sz="2000" b="1"/>
              <a:t>Program Coordinator Claim Verification Page</a:t>
            </a:r>
          </a:p>
          <a:p>
            <a:pPr lvl="0"/>
            <a:r>
              <a:rPr lang="en-ZA" sz="2000"/>
              <a:t>Claims table</a:t>
            </a:r>
          </a:p>
          <a:p>
            <a:pPr lvl="0"/>
            <a:r>
              <a:rPr lang="en-ZA" sz="2000"/>
              <a:t>Filters section (lecturer, claim status, apply/reset button)</a:t>
            </a:r>
          </a:p>
          <a:p>
            <a:pPr lvl="0"/>
            <a:r>
              <a:rPr lang="en-ZA" sz="2000"/>
              <a:t>Approve/Reject and claim detail buttons</a:t>
            </a:r>
          </a:p>
          <a:p>
            <a:pPr marL="0" indent="0">
              <a:buNone/>
            </a:pPr>
            <a:endParaRPr lang="en-ZA" sz="2000"/>
          </a:p>
          <a:p>
            <a:pPr marL="0" indent="0">
              <a:buNone/>
            </a:pPr>
            <a:r>
              <a:rPr lang="en-ZA" sz="2000" b="1"/>
              <a:t>Program Coordinator Review Claim Page</a:t>
            </a:r>
          </a:p>
          <a:p>
            <a:pPr lvl="0"/>
            <a:r>
              <a:rPr lang="en-ZA" sz="2000"/>
              <a:t>Claim details and uploaded documents display</a:t>
            </a:r>
          </a:p>
          <a:p>
            <a:pPr lvl="0"/>
            <a:r>
              <a:rPr lang="en-ZA" sz="2000"/>
              <a:t>Feedback text area</a:t>
            </a:r>
          </a:p>
          <a:p>
            <a:pPr lvl="0"/>
            <a:r>
              <a:rPr lang="en-ZA" sz="2000"/>
              <a:t>Approve/Reject and "Back to claims" button</a:t>
            </a:r>
          </a:p>
          <a:p>
            <a:endParaRPr lang="en-ZA" sz="2000"/>
          </a:p>
        </p:txBody>
      </p:sp>
    </p:spTree>
    <p:extLst>
      <p:ext uri="{BB962C8B-B14F-4D97-AF65-F5344CB8AC3E}">
        <p14:creationId xmlns:p14="http://schemas.microsoft.com/office/powerpoint/2010/main" val="1858164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76BC0B-B0F3-92FA-4666-BBF360B12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BC74B9-A2F1-981D-519C-B73582C20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776067-1D0F-8D9D-F495-A3E1BCE62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BA46B3-0113-72F6-8819-65695C630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BC836C-5686-7CF6-7D8B-F017A23BA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257280-1609-4427-2905-62BE6DC84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7425E-CBF2-0C97-E80F-94F53CC3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9785406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Program Coordinator Key Feature – Claim Verification/Rejection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218B4B0-4B0F-20ED-D730-FCAD74E5D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2811" y="1825625"/>
            <a:ext cx="56663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93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707E0-F529-E1AC-DD21-DF40F189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4000" dirty="0">
                <a:solidFill>
                  <a:srgbClr val="FFFFFF"/>
                </a:solidFill>
              </a:rPr>
              <a:t>Academic Manager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84261-5597-4C03-B0A4-A04E2FCA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ZA" sz="2000" b="1"/>
              <a:t>Academic Manager Dashboard</a:t>
            </a:r>
          </a:p>
          <a:p>
            <a:pPr lvl="0"/>
            <a:r>
              <a:rPr lang="en-ZA" sz="2000"/>
              <a:t>Quick access </a:t>
            </a:r>
          </a:p>
          <a:p>
            <a:pPr lvl="0"/>
            <a:endParaRPr lang="en-ZA" sz="2000"/>
          </a:p>
          <a:p>
            <a:pPr marL="0" indent="0">
              <a:buNone/>
            </a:pPr>
            <a:r>
              <a:rPr lang="en-ZA" sz="2000" b="1"/>
              <a:t>Academic Manager Claim Page</a:t>
            </a:r>
          </a:p>
          <a:p>
            <a:pPr lvl="0"/>
            <a:r>
              <a:rPr lang="en-ZA" sz="2000"/>
              <a:t>Claims table</a:t>
            </a:r>
          </a:p>
          <a:p>
            <a:pPr lvl="0"/>
            <a:r>
              <a:rPr lang="en-ZA" sz="2000"/>
              <a:t>Filters section (Lecturer/Claim ID, Month, Apply/Reset buttons)</a:t>
            </a:r>
          </a:p>
          <a:p>
            <a:pPr lvl="0"/>
            <a:r>
              <a:rPr lang="en-ZA" sz="2000"/>
              <a:t>Approve/Reject and claim detail buttons</a:t>
            </a:r>
          </a:p>
          <a:p>
            <a:pPr lvl="0"/>
            <a:endParaRPr lang="en-ZA" sz="2000"/>
          </a:p>
          <a:p>
            <a:pPr marL="0" indent="0">
              <a:buNone/>
            </a:pPr>
            <a:r>
              <a:rPr lang="en-ZA" sz="2000" b="1"/>
              <a:t>Academic Manager Review Claim Page</a:t>
            </a:r>
          </a:p>
          <a:p>
            <a:pPr lvl="0"/>
            <a:r>
              <a:rPr lang="en-ZA" sz="2000"/>
              <a:t>Displays coordinator verification status</a:t>
            </a:r>
          </a:p>
          <a:p>
            <a:pPr lvl="0"/>
            <a:r>
              <a:rPr lang="en-ZA" sz="2000"/>
              <a:t>Claim details and uploaded documents display</a:t>
            </a:r>
          </a:p>
          <a:p>
            <a:pPr lvl="0"/>
            <a:r>
              <a:rPr lang="en-ZA" sz="2000"/>
              <a:t>Feedback text area</a:t>
            </a:r>
          </a:p>
          <a:p>
            <a:pPr lvl="0"/>
            <a:r>
              <a:rPr lang="en-ZA" sz="2000"/>
              <a:t>Approve/Reject and "Back to pending claims" button</a:t>
            </a:r>
          </a:p>
        </p:txBody>
      </p:sp>
    </p:spTree>
    <p:extLst>
      <p:ext uri="{BB962C8B-B14F-4D97-AF65-F5344CB8AC3E}">
        <p14:creationId xmlns:p14="http://schemas.microsoft.com/office/powerpoint/2010/main" val="3123828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F3240-F1A7-4397-3FCE-41F47A88E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9669FA-8DDE-21DD-9FBA-0FF482250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9BB9C0-4956-0806-D330-4F7812020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26B1C4-F035-FFD5-253B-728244064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48228E-DA53-C687-0DF5-8782C164B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1A5868-5F48-A5B0-AC59-A0E9EB9B7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B42C0A-2701-0784-4963-DF5F16FAC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978540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Academic Manager Key Feature – Claim Approval/Rejection</a:t>
            </a:r>
            <a:endParaRPr lang="en-US" sz="3100" dirty="0">
              <a:solidFill>
                <a:srgbClr val="FFFFFF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6E0E37-FEB1-C729-B663-5C41F533E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2121" y="1928621"/>
            <a:ext cx="5365241" cy="4351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D4A023-C2A2-7487-7DC6-A41CCC9EE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26" y="2579549"/>
            <a:ext cx="4591691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4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B1051-E594-FDFB-2EA0-9486C742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ZA" sz="4000">
                <a:solidFill>
                  <a:srgbClr val="FFFFFF"/>
                </a:solidFill>
              </a:rPr>
              <a:t>Part 3 Features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4EA5-F286-5EE5-668C-C03F3B18D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ZA" sz="2000" dirty="0"/>
              <a:t>Role-Based Login System</a:t>
            </a:r>
          </a:p>
          <a:p>
            <a:r>
              <a:rPr lang="en-ZA" sz="2000" dirty="0"/>
              <a:t>HR User Management (Add/Edit Users)</a:t>
            </a:r>
          </a:p>
          <a:p>
            <a:r>
              <a:rPr lang="en-ZA" sz="2000" dirty="0"/>
              <a:t>Automation and Validation (Hourly Rate and Claimable Monthly Hours)</a:t>
            </a:r>
          </a:p>
          <a:p>
            <a:r>
              <a:rPr lang="en-ZA" sz="2000" dirty="0"/>
              <a:t>Reports PDF generation</a:t>
            </a:r>
          </a:p>
        </p:txBody>
      </p:sp>
    </p:spTree>
    <p:extLst>
      <p:ext uri="{BB962C8B-B14F-4D97-AF65-F5344CB8AC3E}">
        <p14:creationId xmlns:p14="http://schemas.microsoft.com/office/powerpoint/2010/main" val="187737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8F5C5-237A-4DF8-6A28-E9832CE0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Role-Based Login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46061-B70C-AA91-622A-12AD44F67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Validates user input on login.</a:t>
            </a:r>
          </a:p>
          <a:p>
            <a:r>
              <a:rPr lang="en-US" sz="2000" dirty="0"/>
              <a:t>Checks the database for a matching email and password using Entity Framework.</a:t>
            </a:r>
          </a:p>
          <a:p>
            <a:r>
              <a:rPr lang="en-US" sz="2000" dirty="0"/>
              <a:t>If a match is found, stores user details in session variables: </a:t>
            </a:r>
            <a:r>
              <a:rPr lang="en-US" sz="2000" dirty="0" err="1"/>
              <a:t>UserID</a:t>
            </a:r>
            <a:r>
              <a:rPr lang="en-US" sz="2000" dirty="0"/>
              <a:t>, Role, and </a:t>
            </a:r>
            <a:r>
              <a:rPr lang="en-US" sz="2000" dirty="0" err="1"/>
              <a:t>FullName</a:t>
            </a:r>
            <a:r>
              <a:rPr lang="en-US" sz="2000" dirty="0"/>
              <a:t>.</a:t>
            </a:r>
          </a:p>
          <a:p>
            <a:r>
              <a:rPr lang="en-US" sz="2000" dirty="0"/>
              <a:t>Redirects the user to the appropriate dashboard based on their role (role-based access control).</a:t>
            </a:r>
          </a:p>
          <a:p>
            <a:r>
              <a:rPr lang="en-US" sz="2000" dirty="0"/>
              <a:t>Displays an error if authentication fails.</a:t>
            </a:r>
          </a:p>
          <a:p>
            <a:r>
              <a:rPr lang="en-US" sz="2000" dirty="0"/>
              <a:t>Clears the session upon logout to securely end the login.</a:t>
            </a:r>
          </a:p>
        </p:txBody>
      </p:sp>
    </p:spTree>
    <p:extLst>
      <p:ext uri="{BB962C8B-B14F-4D97-AF65-F5344CB8AC3E}">
        <p14:creationId xmlns:p14="http://schemas.microsoft.com/office/powerpoint/2010/main" val="2156709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26195-9F47-9DA3-623B-F98846C3D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F8B4FF2-20A7-0014-1E6F-2DB72DC93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1E5783-2463-F6A1-D764-34C033351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C62797-A675-6DC1-65FC-D1B7B1BF4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4C322A-34C9-D549-11E7-7681D4DF3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6EAA99-7F39-4CAC-19EF-21C6DEED1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9D08B-7B02-4548-AE68-1D8E8DDE7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978540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Role-Based Login &amp; Logout Method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DD342D-4281-C31C-9158-937DF41E3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0104" y="1928621"/>
            <a:ext cx="4170659" cy="43513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33A236-EC51-9C8D-17EA-932FAEFCA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362" y="2777295"/>
            <a:ext cx="4010585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84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51854-16AF-02B9-A792-8A1077EF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HR User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F04CC-285C-D084-B55C-4C42A6F36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HR can create and update user accounts directly within the system.</a:t>
            </a:r>
          </a:p>
          <a:p>
            <a:r>
              <a:rPr lang="en-US" sz="2000" dirty="0" err="1"/>
              <a:t>CreateUser</a:t>
            </a:r>
            <a:r>
              <a:rPr lang="en-US" sz="2000" dirty="0"/>
              <a:t>:</a:t>
            </a:r>
          </a:p>
          <a:p>
            <a:pPr lvl="1"/>
            <a:r>
              <a:rPr lang="en-US" sz="1600" dirty="0"/>
              <a:t>Loads all available roles into a dropdown.</a:t>
            </a:r>
          </a:p>
          <a:p>
            <a:pPr lvl="1"/>
            <a:r>
              <a:rPr lang="en-US" sz="1600" dirty="0"/>
              <a:t>Saves the new user to the database after form submission and validation.</a:t>
            </a:r>
          </a:p>
          <a:p>
            <a:r>
              <a:rPr lang="en-ZA" sz="2000" dirty="0" err="1"/>
              <a:t>EditUser</a:t>
            </a:r>
            <a:r>
              <a:rPr lang="en-ZA" sz="2000" dirty="0"/>
              <a:t>:</a:t>
            </a:r>
          </a:p>
          <a:p>
            <a:pPr lvl="1"/>
            <a:r>
              <a:rPr lang="en-ZA" sz="1600" dirty="0"/>
              <a:t>Retrieves the selected user’s current details.</a:t>
            </a:r>
          </a:p>
          <a:p>
            <a:pPr lvl="1"/>
            <a:r>
              <a:rPr lang="en-ZA" sz="1600" dirty="0"/>
              <a:t>Preloads their assigned role for easy editing.</a:t>
            </a:r>
          </a:p>
          <a:p>
            <a:pPr lvl="1"/>
            <a:r>
              <a:rPr lang="en-ZA" sz="1600" dirty="0"/>
              <a:t>Allows HR to update any information.</a:t>
            </a:r>
          </a:p>
          <a:p>
            <a:r>
              <a:rPr lang="en-ZA" sz="2000" dirty="0"/>
              <a:t>After validation, updated user data is saved to the database using Entity Framework.</a:t>
            </a:r>
          </a:p>
        </p:txBody>
      </p:sp>
    </p:spTree>
    <p:extLst>
      <p:ext uri="{BB962C8B-B14F-4D97-AF65-F5344CB8AC3E}">
        <p14:creationId xmlns:p14="http://schemas.microsoft.com/office/powerpoint/2010/main" val="2817647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CCB60-7E91-F9A5-F86D-3CA5D47A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E226D-E58E-103A-E30E-23F457C01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HR Key Feature – Add / Edit User</a:t>
            </a:r>
          </a:p>
        </p:txBody>
      </p:sp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1F42848-72BA-A30A-5BD4-0D4C07CD9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748" y="2871817"/>
            <a:ext cx="5131088" cy="2616854"/>
          </a:xfrm>
          <a:prstGeom prst="rect">
            <a:avLst/>
          </a:prstGeom>
        </p:spPr>
      </p:pic>
      <p:pic>
        <p:nvPicPr>
          <p:cNvPr id="8" name="Picture 7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EB242AD-79F8-9309-762D-474E20F9E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703060"/>
            <a:ext cx="5131087" cy="302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68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61518-F065-3C07-4743-68679C2E3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Automation and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DC23-A989-08BA-9AE1-56971CC46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system automatically pulls key claim values from the logged-in user to ensure accuracy and prevent tampering.</a:t>
            </a:r>
          </a:p>
          <a:p>
            <a:r>
              <a:rPr lang="en-US" sz="2000" dirty="0"/>
              <a:t>The lecturer’s </a:t>
            </a:r>
            <a:r>
              <a:rPr lang="en-US" sz="2000" dirty="0" err="1"/>
              <a:t>HourlyRate</a:t>
            </a:r>
            <a:r>
              <a:rPr lang="en-US" sz="2000" dirty="0"/>
              <a:t> is taken directly from their user profile, so it cannot be changed manually.</a:t>
            </a:r>
          </a:p>
          <a:p>
            <a:r>
              <a:rPr lang="en-US" sz="2000" dirty="0"/>
              <a:t>The system checks all previously submitted claims for the current month and adds up the total hours already claimed.</a:t>
            </a:r>
          </a:p>
          <a:p>
            <a:r>
              <a:rPr lang="en-US" sz="2000" dirty="0"/>
              <a:t>It calculates the remaining allowable hours and blocks any claim that exceeds the monthly limit.</a:t>
            </a:r>
          </a:p>
          <a:p>
            <a:r>
              <a:rPr lang="en-US" sz="2000" dirty="0"/>
              <a:t>After validation, the Total Amount is automatically calculated as </a:t>
            </a:r>
            <a:r>
              <a:rPr lang="en-US" sz="2000" i="1" dirty="0" err="1"/>
              <a:t>HoursWorked</a:t>
            </a:r>
            <a:r>
              <a:rPr lang="en-US" sz="2000" i="1" dirty="0"/>
              <a:t> × </a:t>
            </a:r>
            <a:r>
              <a:rPr lang="en-US" sz="2000" i="1" dirty="0" err="1"/>
              <a:t>HourlyRate</a:t>
            </a:r>
            <a:r>
              <a:rPr lang="en-US" sz="2000" dirty="0"/>
              <a:t>.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860683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F6BFC-56C7-95DD-D1BE-57A9E800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6474F6C-B1D7-7D79-0B81-A8D7A474B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22D126-AEC8-DE5E-6BD0-4CD013588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B590CE-796F-C075-BDFC-F0AF7CCAF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D01364-E088-C48A-D383-E266268A4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CAAF87-7DD0-9081-AB79-6D74FCF6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68198-C07F-A0D9-33A9-F9BDBDBB2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9785406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Automation and Validation Code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5FAB07-4435-1DC9-EB6D-8322C542B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3173" y="1825625"/>
            <a:ext cx="69256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4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496BD-29D1-E32E-896F-2765631BA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DF0958-DE4B-4789-A4C4-4D1C6A55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6F9497-9EF2-7CD8-3538-D115641D2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3B76C9-4CD2-6A6D-8476-B7F02009B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9FBACA-4DB3-D99D-DE6F-D9976F69B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D31351-EE91-5D74-81E8-1EB3E7248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106A3-4BF2-5FA4-CAD5-EC429E825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ZA" sz="4000" dirty="0">
                <a:solidFill>
                  <a:srgbClr val="FFFFFF"/>
                </a:solidFill>
              </a:rPr>
              <a:t>Reports PDF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958BB-A296-86D9-A48E-F205E035F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1" y="2318196"/>
            <a:ext cx="5303520" cy="3930203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Reports Method </a:t>
            </a:r>
          </a:p>
          <a:p>
            <a:r>
              <a:rPr lang="en-US" sz="2000" dirty="0"/>
              <a:t>Generates On-Screen Report Using LINQ</a:t>
            </a:r>
          </a:p>
          <a:p>
            <a:r>
              <a:rPr lang="en-US" sz="2000" dirty="0"/>
              <a:t>Starts by loading all claims and including the related user (lecturer).</a:t>
            </a:r>
          </a:p>
          <a:p>
            <a:r>
              <a:rPr lang="en-US" sz="2000" dirty="0"/>
              <a:t>Applies filters (month, lecturer, status) only if the user selects them.</a:t>
            </a:r>
          </a:p>
          <a:p>
            <a:r>
              <a:rPr lang="en-US" sz="2000" dirty="0"/>
              <a:t>Groups the filtered claims by lecturer name.</a:t>
            </a:r>
          </a:p>
          <a:p>
            <a:r>
              <a:rPr lang="en-US" sz="2000" dirty="0"/>
              <a:t>Calculates each lecturer’s Total Hours and Total Amount.</a:t>
            </a:r>
          </a:p>
          <a:p>
            <a:r>
              <a:rPr lang="en-US" sz="2000" dirty="0"/>
              <a:t>Prepares dropdown lists for Month, Lecturer, and Status.</a:t>
            </a:r>
          </a:p>
          <a:p>
            <a:r>
              <a:rPr lang="en-US" sz="2000" dirty="0"/>
              <a:t>Passes the final grouped data to the View so HR can see the report on screen.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C26314-3A26-7515-E146-F1BB863C2338}"/>
              </a:ext>
            </a:extLst>
          </p:cNvPr>
          <p:cNvSpPr txBox="1">
            <a:spLocks/>
          </p:cNvSpPr>
          <p:nvPr/>
        </p:nvSpPr>
        <p:spPr>
          <a:xfrm>
            <a:off x="6319574" y="2318196"/>
            <a:ext cx="5303520" cy="3930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 err="1"/>
              <a:t>DownloadReport</a:t>
            </a:r>
            <a:r>
              <a:rPr lang="en-US" sz="2000" b="1" dirty="0"/>
              <a:t> Method </a:t>
            </a:r>
          </a:p>
          <a:p>
            <a:r>
              <a:rPr lang="en-US" sz="2000" dirty="0"/>
              <a:t>Exports the Same Report to PDF</a:t>
            </a:r>
          </a:p>
          <a:p>
            <a:r>
              <a:rPr lang="en-US" sz="2000" dirty="0"/>
              <a:t>Repeats the same filtering steps used in the Reports method.</a:t>
            </a:r>
          </a:p>
          <a:p>
            <a:r>
              <a:rPr lang="en-US" sz="2000" dirty="0"/>
              <a:t>Groups filtered claims by lecturer and summarizes totals.</a:t>
            </a:r>
          </a:p>
          <a:p>
            <a:r>
              <a:rPr lang="en-US" sz="2000" dirty="0"/>
              <a:t>Uses iText7 to create a PDF document.</a:t>
            </a:r>
          </a:p>
          <a:p>
            <a:r>
              <a:rPr lang="en-US" sz="2000" dirty="0"/>
              <a:t>Adds a title, lecturer headings, and a table listing all claim details.</a:t>
            </a:r>
          </a:p>
          <a:p>
            <a:r>
              <a:rPr lang="en-US" sz="2000" dirty="0"/>
              <a:t>Writes total hours and total amount for each lecturer.</a:t>
            </a:r>
          </a:p>
          <a:p>
            <a:r>
              <a:rPr lang="en-US" sz="2000" dirty="0"/>
              <a:t>Builds a dynamic filename based on the selected filters.</a:t>
            </a:r>
          </a:p>
          <a:p>
            <a:r>
              <a:rPr lang="en-US" sz="2000" dirty="0"/>
              <a:t>Returns the PDF file for download.</a:t>
            </a:r>
          </a:p>
        </p:txBody>
      </p:sp>
    </p:spTree>
    <p:extLst>
      <p:ext uri="{BB962C8B-B14F-4D97-AF65-F5344CB8AC3E}">
        <p14:creationId xmlns:p14="http://schemas.microsoft.com/office/powerpoint/2010/main" val="2602965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B0CFC-8080-D9FD-A765-B560330F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57406-C0D0-D672-8675-726184A1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Reports PDF Generation Code </a:t>
            </a:r>
          </a:p>
        </p:txBody>
      </p: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994B5A1-1788-2869-D8A5-B6B56FA15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166" y="2003452"/>
            <a:ext cx="4512670" cy="4501388"/>
          </a:xfrm>
          <a:prstGeom prst="rect">
            <a:avLst/>
          </a:prstGeom>
        </p:spPr>
      </p:pic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EBE940C-8EC9-31F7-CEF8-F12C1F357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6" y="2003452"/>
            <a:ext cx="3560835" cy="446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55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DE01C-CDB4-FACE-91CB-5883BB350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62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807</Words>
  <Application>Microsoft Office PowerPoint</Application>
  <PresentationFormat>Widescreen</PresentationFormat>
  <Paragraphs>103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Contract Monthly Claim System</vt:lpstr>
      <vt:lpstr>Overview</vt:lpstr>
      <vt:lpstr>Lecturer Features </vt:lpstr>
      <vt:lpstr>Lecturer Key Feature – Claim Submission</vt:lpstr>
      <vt:lpstr>Program Coordinator Features</vt:lpstr>
      <vt:lpstr>Program Coordinator Key Feature – Claim Verification/Rejection</vt:lpstr>
      <vt:lpstr>Academic Manager Features</vt:lpstr>
      <vt:lpstr>Academic Manager Key Feature – Claim Approval/Rejection</vt:lpstr>
      <vt:lpstr>Part 3 Features </vt:lpstr>
      <vt:lpstr>Role-Based Login System</vt:lpstr>
      <vt:lpstr>Role-Based Login &amp; Logout Method</vt:lpstr>
      <vt:lpstr>HR User Management</vt:lpstr>
      <vt:lpstr>HR Key Feature – Add / Edit User</vt:lpstr>
      <vt:lpstr>Automation and Validation</vt:lpstr>
      <vt:lpstr>Automation and Validation Code </vt:lpstr>
      <vt:lpstr>Reports PDF Generation</vt:lpstr>
      <vt:lpstr>Reports PDF Generation Code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samkeh hlatshwayo</dc:creator>
  <cp:lastModifiedBy>samkeh hlatshwayo</cp:lastModifiedBy>
  <cp:revision>2</cp:revision>
  <dcterms:created xsi:type="dcterms:W3CDTF">2025-11-21T10:38:36Z</dcterms:created>
  <dcterms:modified xsi:type="dcterms:W3CDTF">2025-11-21T13:36:30Z</dcterms:modified>
</cp:coreProperties>
</file>